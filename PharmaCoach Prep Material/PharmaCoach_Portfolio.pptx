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PharmaCoach as a 3-agent AI pipeline for pharma sales coaching. Key differentiator: not a single ChatGPT prompt — three specialized agents in sequence where each output feeds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business case. Managers with 20 reps can't review every call. PharmaCoach makes 100% coverage possible at zero marginal cost per call. The consistency argument — same framework every time — is what resonates with consulting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interview point: nobody programmed 'first extract, then score, then coach.' Each agent does one job, and the structured JSON output enables reliable chaining. A single ChatGPT prompt can't do this reliably because it returns free-form text that can't be parsed and passed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 and FAB are real pharma sales frameworks used at GSK and most major pharma companies. Encoding these into the scoring prompt is what makes PharmaCoach domain-specific — a generic ChatGPT prompt doesn't know these frameworks.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layer. The prompt layer is where pharma domain knowledge lives — SPIN, FAB, compliance rules are all encoded in prompts.py. The Databricks layer is what elevates this beyond a single-session tool into a team analytics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Separation of concerns — each file has one job. If you want to change the scoring framework, edit prompts.py only. If you want to swap Databricks for Snowflake, edit databricks_connector.py only. This modularity is a senior engineering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makes PharmaCoach a team platform, not just a single-call tool. The compliance alert feature is particularly powerful for pharma — managers get automatic notification when a rep makes off-label claims, reducing regulatory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Streamlit app. Load James Okafor transcript first to show compliance alert. Then load Sarah Mitchell Call 2 to show a high-scoring call. Then open Team Dashboard to show the leaderboard with all 4 reps.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26782">
              <a:alpha val="22000"/>
            </a:srgbClr>
          </a:solidFill>
          <a:ln w="12700">
            <a:solidFill>
              <a:srgbClr val="126782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560320" cy="2560320"/>
          </a:xfrm>
          <a:prstGeom prst="ellipse">
            <a:avLst/>
          </a:prstGeom>
          <a:solidFill>
            <a:srgbClr val="126782">
              <a:alpha val="18000"/>
            </a:srgbClr>
          </a:solidFill>
          <a:ln w="12700">
            <a:solidFill>
              <a:srgbClr val="12678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💊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PharmaCoach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Call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Specialized Agents  ·  SPIN + FAB Scoring  ·  Databricks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77724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118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Dhwani Teli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Business Analytics · UMass Amherst (GPA 4.0)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1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PharmaCoach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30-45 min per call review — manual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~10% of calls get reviewed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arrives weeks too late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scores vary by manager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territory-level pattern visibility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82296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DFAF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PharmaCoach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seconds — fully automated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call coverage guaranteed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coaching after every call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SPIN + FAB scoring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Databricks team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090672"/>
            <a:ext cx="1965960" cy="1719072"/>
          </a:xfrm>
          <a:prstGeom prst="roundRect">
            <a:avLst>
              <a:gd name="adj" fmla="val 425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3273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" y="37764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coaching session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090672"/>
            <a:ext cx="1965960" cy="1719072"/>
          </a:xfrm>
          <a:prstGeom prst="roundRect">
            <a:avLst>
              <a:gd name="adj" fmla="val 425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3273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37764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coverage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~10% manual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090672"/>
            <a:ext cx="1965960" cy="1719072"/>
          </a:xfrm>
          <a:prstGeom prst="roundRect">
            <a:avLst>
              <a:gd name="adj" fmla="val 425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3273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17720" y="37764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sequence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3090672"/>
            <a:ext cx="1965960" cy="1719072"/>
          </a:xfrm>
          <a:prstGeom prst="roundRect">
            <a:avLst>
              <a:gd name="adj" fmla="val 425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273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66560" y="377647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managers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3-Agent Pipeline — Why Not 1 Prompt?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8412480" cy="420624"/>
          </a:xfrm>
          <a:prstGeom prst="roundRect">
            <a:avLst>
              <a:gd name="adj" fmla="val 10870"/>
            </a:avLst>
          </a:prstGeom>
          <a:solidFill>
            <a:srgbClr val="FEF9C3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Agent 1 → feeds Agent 2. Combined output → feeds Agent 3. Each agent optimized for one task.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6364"/>
            </a:avLst>
          </a:prstGeom>
          <a:solidFill>
            <a:srgbClr val="EEF2FF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Call Extractor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Raw transcript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4447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Rep name · HCP info · Objection types · Clinical claims · Behaviors · Outcome · Next steps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09560" y="16733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JSON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2359152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365760" y="2523744"/>
            <a:ext cx="8412480" cy="1005840"/>
          </a:xfrm>
          <a:prstGeom prst="roundRect">
            <a:avLst>
              <a:gd name="adj" fmla="val 6364"/>
            </a:avLst>
          </a:prstGeom>
          <a:solidFill>
            <a:srgbClr val="F0FDF4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151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Call Scorer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JSON from Agent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61518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SPIN scores (4 dimensions) · FAB objection score · Compliance check · Overall score with justifications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09560" y="28437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Scored JSON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3529584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365760" y="3694176"/>
            <a:ext cx="8412480" cy="1005840"/>
          </a:xfrm>
          <a:prstGeom prst="roundRect">
            <a:avLst>
              <a:gd name="adj" fmla="val 6364"/>
            </a:avLst>
          </a:prstGeom>
          <a:solidFill>
            <a:srgbClr val="FFF7ED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856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— Coaching Generator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78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JSON from Agents 1 + 2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78561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Strengths with examples · Improvements with actions · Word-for-word objection scripts · Next call strategy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09560" y="401421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Coaching JSON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Frameworks — SPIN + FAB + Compliance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329184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📐 SPIN Selling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at GSK, Pfizer, AstraZeneca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rep establish context and understand the HCP's current practice?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305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50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rep uncover specific HCP challenges or pain points?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523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Implication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rep connect the problem to patient consequences?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741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Need-Payoff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5935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rep link the solution to the HCP's specific need?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04672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0FDF4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FAB Objection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2984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Feature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2984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relevant product feature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70078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Advantage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17007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that feature matters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Benefit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103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patient or practice benefit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4160520" cy="1353312"/>
          </a:xfrm>
          <a:prstGeom prst="roundRect">
            <a:avLst>
              <a:gd name="adj" fmla="val 5405"/>
            </a:avLst>
          </a:prstGeom>
          <a:solidFill>
            <a:srgbClr val="FFF1F2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1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Compliance Check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32186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off-label claims automatically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all clinical data is substantiated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deviations from approved indication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7315200" cy="64008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651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8961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161288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4 tabs · Sidebar dropdown · Clear preserves dashboard · Session state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26280" y="1463040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914400" y="1609344"/>
            <a:ext cx="7315200" cy="64008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824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4767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LangChain LCEL chains (prompt | llm) · JSON output at each step · Retry logic · max_tokens=2048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2249424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914400" y="2395728"/>
            <a:ext cx="7315200" cy="640080"/>
          </a:xfrm>
          <a:prstGeom prst="roundRect">
            <a:avLst>
              <a:gd name="adj" fmla="val 8571"/>
            </a:avLst>
          </a:prstGeom>
          <a:solidFill>
            <a:srgbClr val="FEF9C3"/>
          </a:solidFill>
          <a:ln w="1651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46888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734056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 versatile · temperature=0 · Deterministic scoring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3035808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914400" y="3182112"/>
            <a:ext cx="7315200" cy="640080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651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2552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PromptTemplates · JSON schema enforcement · SPIN + FAB domain logic · Compliance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3822192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914400" y="3968496"/>
            <a:ext cx="731520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 w="1651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04164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30682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Warehouse · pharma_coach.call_results Delta Table · Live dashboard queries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 — 4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938528"/>
          </a:xfrm>
          <a:prstGeom prst="roundRect">
            <a:avLst>
              <a:gd name="adj" fmla="val 330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399032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PromptTemplates with strict JSON schemas. SPIN/FAB frameworks baked in as scoring criteria. Compliance rules enforce no off-label claims. Double braces {{}} escape literal curly braces inside templates.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804672"/>
            <a:ext cx="4206240" cy="1938528"/>
          </a:xfrm>
          <a:prstGeom prst="roundRect">
            <a:avLst>
              <a:gd name="adj" fmla="val 330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0328" y="11704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0328" y="1399032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functions using LangChain LCEL (prompt | llm). clean_json() with 4-level fallback parsing handles LLM formatting errors. run_coaching_agent() uses max_tokens=2048 for longer outputs. run_full_pipeline() chains all three.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4206240" cy="1938528"/>
          </a:xfrm>
          <a:prstGeom prst="roundRect">
            <a:avLst>
              <a:gd name="adj" fmla="val 3302"/>
            </a:avLst>
          </a:prstGeom>
          <a:solidFill>
            <a:srgbClr val="FEF9C3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999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databricks_connector.py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" y="32735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502152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Databricks SQL Warehouse via databricks-sql-connector. save_call_result() inserts structured scores after every analysis. get_team_data() fetches all history for the dashboard.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907792"/>
            <a:ext cx="4206240" cy="1938528"/>
          </a:xfrm>
          <a:prstGeom prst="roundRect">
            <a:avLst>
              <a:gd name="adj" fmla="val 3302"/>
            </a:avLst>
          </a:prstGeom>
          <a:solidFill>
            <a:srgbClr val="E8F4F8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2999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0328" y="32735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6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0328" y="3502152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tabs: Call Summary, SPIN Scores, Coaching, Team Dashboard. Clear button removes only analysis — dashboard persists. Dashboard always visible even without active analysis. Session state prevents re-processing.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 Integration — Team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EEF2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Leaderboard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ranking reps by average SPIN score with call count on hover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72968" y="9144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Distribution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627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showing positive vs neutral vs negative call outcomes across territory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25896" y="82296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FEF9C3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25896" y="9144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17336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Heatmap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17336" y="16276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most frequent objection types — safety, cost, efficacy, access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FFF1F2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971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Alerts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6850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Auto-flags any rep scoring below 7/10 on compliance for immediate manager 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288036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72968" y="2971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64408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History Table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6850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analyzed calls with rep, HCP, scores, outcome — sortable and filterable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25896" y="288036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25896" y="2971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17336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17336" y="36850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queries Databricks on every page load — always shows latest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126782">
              <a:alpha val="20000"/>
            </a:srgbClr>
          </a:solidFill>
          <a:ln w="12700">
            <a:solidFill>
              <a:srgbClr val="12678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26782">
              <a:alpha val="18000"/>
            </a:srgbClr>
          </a:solidFill>
          <a:ln w="12700">
            <a:solidFill>
              <a:srgbClr val="12678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sample transcripts showing different scenarios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530352"/>
          </a:xfrm>
          <a:prstGeom prst="roundRect">
            <a:avLst>
              <a:gd name="adj" fmla="val 10345"/>
            </a:avLst>
          </a:prstGeom>
          <a:solidFill>
            <a:srgbClr val="126782">
              <a:alpha val="22000"/>
            </a:srgbClr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Mitchell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14884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call — 9/10 · Clinical data, patient segmentation, commitment secured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61488"/>
            <a:ext cx="7680960" cy="530352"/>
          </a:xfrm>
          <a:prstGeom prst="roundRect">
            <a:avLst>
              <a:gd name="adj" fmla="val 10345"/>
            </a:avLst>
          </a:prstGeom>
          <a:solidFill>
            <a:srgbClr val="126782">
              <a:alpha val="22000"/>
            </a:srgbClr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072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Okafor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807208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issue — 4/10 · Off-label claim detected, compliance alert triggered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19856"/>
            <a:ext cx="7680960" cy="530352"/>
          </a:xfrm>
          <a:prstGeom prst="roundRect">
            <a:avLst>
              <a:gd name="adj" fmla="val 10345"/>
            </a:avLst>
          </a:prstGeom>
          <a:solidFill>
            <a:srgbClr val="126782">
              <a:alpha val="22000"/>
            </a:srgbClr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6557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Patel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465576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call — 7/10 · Good data usage, no commitment secured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78224"/>
            <a:ext cx="7680960" cy="530352"/>
          </a:xfrm>
          <a:prstGeom prst="roundRect">
            <a:avLst>
              <a:gd name="adj" fmla="val 10345"/>
            </a:avLst>
          </a:prstGeom>
          <a:solidFill>
            <a:srgbClr val="126782">
              <a:alpha val="22000"/>
            </a:srgbClr>
          </a:solidFill>
          <a:ln w="6350">
            <a:solidFill>
              <a:srgbClr val="7EC8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2394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Mitchell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12394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call — 9/10 · Hub services offered, 2 patients started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github.com/dteli19/pharmacoach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PharmaCoach</dc:title>
  <dc:subject>PptxGenJS Presentation</dc:subject>
  <dc:creator>Dhwani Teli</dc:creator>
  <cp:lastModifiedBy>Dhwani Teli</cp:lastModifiedBy>
  <cp:revision>1</cp:revision>
  <dcterms:created xsi:type="dcterms:W3CDTF">2026-06-18T14:49:59Z</dcterms:created>
  <dcterms:modified xsi:type="dcterms:W3CDTF">2026-06-18T14:49:59Z</dcterms:modified>
</cp:coreProperties>
</file>